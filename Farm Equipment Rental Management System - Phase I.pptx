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C4924-5A8D-48FD-ACE9-ABD0D4AC03A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A777E2A-DC13-4291-8EFB-C2EF6ED5332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827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C4924-5A8D-48FD-ACE9-ABD0D4AC03A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7E2A-DC13-4291-8EFB-C2EF6ED5332A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002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C4924-5A8D-48FD-ACE9-ABD0D4AC03A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7E2A-DC13-4291-8EFB-C2EF6ED5332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3859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C4924-5A8D-48FD-ACE9-ABD0D4AC03A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7E2A-DC13-4291-8EFB-C2EF6ED5332A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55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C4924-5A8D-48FD-ACE9-ABD0D4AC03A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7E2A-DC13-4291-8EFB-C2EF6ED5332A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979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C4924-5A8D-48FD-ACE9-ABD0D4AC03A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7E2A-DC13-4291-8EFB-C2EF6ED5332A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39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C4924-5A8D-48FD-ACE9-ABD0D4AC03A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7E2A-DC13-4291-8EFB-C2EF6ED53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07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C4924-5A8D-48FD-ACE9-ABD0D4AC03A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7E2A-DC13-4291-8EFB-C2EF6ED5332A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88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0EC4924-5A8D-48FD-ACE9-ABD0D4AC03A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7E2A-DC13-4291-8EFB-C2EF6ED5332A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422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C4924-5A8D-48FD-ACE9-ABD0D4AC03A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7E2A-DC13-4291-8EFB-C2EF6ED5332A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1080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C4924-5A8D-48FD-ACE9-ABD0D4AC03A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77E2A-DC13-4291-8EFB-C2EF6ED5332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19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C4924-5A8D-48FD-ACE9-ABD0D4AC03A0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A777E2A-DC13-4291-8EFB-C2EF6ED5332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6545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21B8B-3641-498D-9AF0-4F20D185AE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F1115"/>
                </a:solidFill>
                <a:effectLst/>
                <a:latin typeface="quote-cjk-patch"/>
              </a:rPr>
              <a:t>Farm Equipment Rental Management System - Phase I PowerPoint Presentation</a:t>
            </a:r>
            <a:br>
              <a:rPr lang="en-US" sz="4000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CB7741-0217-4989-815C-184E9440B9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056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BB18A-D92B-4E19-BC8A-38E8684F1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FARM EQUIPMENT RENTAL MANAGEMENT SYSTEM</a:t>
            </a:r>
          </a:p>
          <a:p>
            <a:endParaRPr lang="en-US" dirty="0"/>
          </a:p>
          <a:p>
            <a:r>
              <a:rPr lang="en-US" dirty="0"/>
              <a:t>PL/SQL Oracle Database Capstone Project</a:t>
            </a:r>
          </a:p>
          <a:p>
            <a:r>
              <a:rPr lang="en-US" dirty="0"/>
              <a:t>INSY 8311 - Database Development with PL/SQL</a:t>
            </a:r>
          </a:p>
          <a:p>
            <a:endParaRPr lang="en-US" dirty="0"/>
          </a:p>
          <a:p>
            <a:r>
              <a:rPr lang="en-US" dirty="0"/>
              <a:t>Student: </a:t>
            </a:r>
            <a:r>
              <a:rPr lang="en-US" dirty="0" err="1"/>
              <a:t>Teta</a:t>
            </a:r>
            <a:r>
              <a:rPr lang="en-US" dirty="0"/>
              <a:t> </a:t>
            </a:r>
            <a:r>
              <a:rPr lang="en-US" dirty="0" err="1"/>
              <a:t>kevine</a:t>
            </a:r>
            <a:endParaRPr lang="en-US" dirty="0"/>
          </a:p>
          <a:p>
            <a:r>
              <a:rPr lang="en-US" dirty="0"/>
              <a:t>Student ID: 27973</a:t>
            </a:r>
          </a:p>
          <a:p>
            <a:r>
              <a:rPr lang="en-US" dirty="0"/>
              <a:t>Date: November 17, 2025</a:t>
            </a:r>
          </a:p>
          <a:p>
            <a:r>
              <a:rPr lang="en-US" dirty="0"/>
              <a:t>Adventist University of Central Africa (AUCA)</a:t>
            </a:r>
          </a:p>
          <a:p>
            <a:r>
              <a:rPr lang="en-US" dirty="0"/>
              <a:t>Lecturer: Eric </a:t>
            </a:r>
            <a:r>
              <a:rPr lang="en-US" dirty="0" err="1"/>
              <a:t>Maniraquha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216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985AC-24AF-46F0-BFF4-61F0F8C5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Problem Definition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52E8B-3F6A-453D-974A-13B44CEFC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dirty="0"/>
              <a:t>PROBLEM STATEMENT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Challenge:</a:t>
            </a:r>
          </a:p>
          <a:p>
            <a:pPr marL="0" indent="0">
              <a:buNone/>
            </a:pPr>
            <a:r>
              <a:rPr lang="en-US" dirty="0"/>
              <a:t>• Small-scale farmers cannot afford expensive farm equipment</a:t>
            </a:r>
          </a:p>
          <a:p>
            <a:pPr marL="0" indent="0">
              <a:buNone/>
            </a:pPr>
            <a:r>
              <a:rPr lang="en-US" dirty="0"/>
              <a:t>• Equipment underutilization for owners/dealers</a:t>
            </a:r>
          </a:p>
          <a:p>
            <a:pPr marL="0" indent="0">
              <a:buNone/>
            </a:pPr>
            <a:r>
              <a:rPr lang="en-US" dirty="0"/>
              <a:t>• Manual rental processes cause scheduling conflicts</a:t>
            </a:r>
          </a:p>
          <a:p>
            <a:pPr marL="0" indent="0">
              <a:buNone/>
            </a:pPr>
            <a:r>
              <a:rPr lang="en-US" dirty="0"/>
              <a:t>• No centralized system for maintenance tracking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Impact:</a:t>
            </a:r>
          </a:p>
          <a:p>
            <a:pPr marL="0" indent="0">
              <a:buNone/>
            </a:pPr>
            <a:r>
              <a:rPr lang="en-US" dirty="0"/>
              <a:t>• Reduced agricultural productivity</a:t>
            </a:r>
          </a:p>
          <a:p>
            <a:pPr marL="0" indent="0">
              <a:buNone/>
            </a:pPr>
            <a:r>
              <a:rPr lang="en-US" dirty="0"/>
              <a:t>• Higher operational costs</a:t>
            </a:r>
          </a:p>
          <a:p>
            <a:pPr marL="0" indent="0">
              <a:buNone/>
            </a:pPr>
            <a:r>
              <a:rPr lang="en-US" dirty="0"/>
              <a:t>• Equipment downtime inefficiencies</a:t>
            </a:r>
          </a:p>
          <a:p>
            <a:pPr marL="0" indent="0">
              <a:buNone/>
            </a:pPr>
            <a:r>
              <a:rPr lang="en-US" dirty="0"/>
              <a:t>• Lost revenue opportunities</a:t>
            </a:r>
          </a:p>
        </p:txBody>
      </p:sp>
    </p:spTree>
    <p:extLst>
      <p:ext uri="{BB962C8B-B14F-4D97-AF65-F5344CB8AC3E}">
        <p14:creationId xmlns:p14="http://schemas.microsoft.com/office/powerpoint/2010/main" val="226909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E85DA-FAD6-4A7E-8EE4-9F7A7CC81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 Context &amp; Users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2FFE0-F566-4F4D-A0A2-6FC4D32F4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891" y="1754604"/>
            <a:ext cx="10515600" cy="4351338"/>
          </a:xfrm>
        </p:spPr>
        <p:txBody>
          <a:bodyPr>
            <a:normAutofit fontScale="55000" lnSpcReduction="20000"/>
          </a:bodyPr>
          <a:lstStyle/>
          <a:p>
            <a:pPr lvl="2">
              <a:buFont typeface="Wingdings" panose="05000000000000000000" pitchFamily="2" charset="2"/>
              <a:buChar char="Ø"/>
            </a:pPr>
            <a:r>
              <a:rPr lang="en-US" sz="3300" dirty="0"/>
              <a:t>SYSTEM CONTEXT &amp; TARGET USERS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Where/How Used:</a:t>
            </a:r>
          </a:p>
          <a:p>
            <a:pPr marL="0" indent="0">
              <a:buNone/>
            </a:pPr>
            <a:r>
              <a:rPr lang="en-US" dirty="0"/>
              <a:t>• Agricultural cooperatives in Rwanda</a:t>
            </a:r>
          </a:p>
          <a:p>
            <a:pPr marL="0" indent="0">
              <a:buNone/>
            </a:pPr>
            <a:r>
              <a:rPr lang="en-US" dirty="0"/>
              <a:t>• Equipment rental depots in rural areas</a:t>
            </a:r>
          </a:p>
          <a:p>
            <a:pPr marL="0" indent="0">
              <a:buNone/>
            </a:pPr>
            <a:r>
              <a:rPr lang="en-US" dirty="0"/>
              <a:t>• Online/web-based access for reservations</a:t>
            </a:r>
          </a:p>
          <a:p>
            <a:pPr marL="0" indent="0">
              <a:buNone/>
            </a:pPr>
            <a:r>
              <a:rPr lang="en-US" dirty="0"/>
              <a:t>• Mobile-friendly for remote farmers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Primary Users:</a:t>
            </a:r>
          </a:p>
          <a:p>
            <a:pPr marL="0" indent="0">
              <a:buNone/>
            </a:pPr>
            <a:r>
              <a:rPr lang="en-US" dirty="0"/>
              <a:t>1. Farmers/Renters - Browse &amp; reserve equipment</a:t>
            </a:r>
          </a:p>
          <a:p>
            <a:pPr marL="0" indent="0">
              <a:buNone/>
            </a:pPr>
            <a:r>
              <a:rPr lang="en-US" dirty="0"/>
              <a:t>2. Equipment Owners - Manage inventory &amp; revenue</a:t>
            </a:r>
          </a:p>
          <a:p>
            <a:pPr marL="0" indent="0">
              <a:buNone/>
            </a:pPr>
            <a:r>
              <a:rPr lang="en-US" dirty="0"/>
              <a:t>3. Depot Managers - Oversee operations</a:t>
            </a:r>
          </a:p>
          <a:p>
            <a:pPr marL="0" indent="0">
              <a:buNone/>
            </a:pPr>
            <a:r>
              <a:rPr lang="en-US" dirty="0"/>
              <a:t>4. Maintenance Staff - Schedule servicing</a:t>
            </a:r>
          </a:p>
          <a:p>
            <a:pPr marL="0" indent="0">
              <a:buNone/>
            </a:pPr>
            <a:r>
              <a:rPr lang="en-US" dirty="0"/>
              <a:t>5. Administrators - System management</a:t>
            </a:r>
          </a:p>
        </p:txBody>
      </p:sp>
    </p:spTree>
    <p:extLst>
      <p:ext uri="{BB962C8B-B14F-4D97-AF65-F5344CB8AC3E}">
        <p14:creationId xmlns:p14="http://schemas.microsoft.com/office/powerpoint/2010/main" val="2157108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0365D-E2EE-428A-982E-9E6CBB11B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/>
              <a:t>System architecture</a:t>
            </a:r>
            <a:br>
              <a:rPr lang="en-US" sz="3600" dirty="0"/>
            </a:br>
            <a:endParaRPr lang="en-US" sz="36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E2B1C5-E3F4-4BC6-B061-AA1A711E52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491" y="2016125"/>
            <a:ext cx="8437342" cy="3449638"/>
          </a:xfrm>
        </p:spPr>
      </p:pic>
    </p:spTree>
    <p:extLst>
      <p:ext uri="{BB962C8B-B14F-4D97-AF65-F5344CB8AC3E}">
        <p14:creationId xmlns:p14="http://schemas.microsoft.com/office/powerpoint/2010/main" val="3447299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4F7FE-A469-42DC-9CD1-5AA0EA3D1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 Project Goals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04AE1-1A48-44C6-B3EC-14B6F62A94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lvl="3">
              <a:buFont typeface="Wingdings" panose="05000000000000000000" pitchFamily="2" charset="2"/>
              <a:buChar char="Ø"/>
            </a:pPr>
            <a:r>
              <a:rPr lang="en-US" sz="3600" dirty="0"/>
              <a:t>PROJECT OBJECTIVES &amp; OUTCOMES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Primary Goals:</a:t>
            </a:r>
          </a:p>
          <a:p>
            <a:r>
              <a:rPr lang="en-US" dirty="0"/>
              <a:t>✓ Streamline rental booking process</a:t>
            </a:r>
          </a:p>
          <a:p>
            <a:r>
              <a:rPr lang="en-US" dirty="0"/>
              <a:t>✓ Track equipment availability in real-time</a:t>
            </a:r>
          </a:p>
          <a:p>
            <a:r>
              <a:rPr lang="en-US" dirty="0"/>
              <a:t>✓ Automate payment and billing</a:t>
            </a:r>
          </a:p>
          <a:p>
            <a:r>
              <a:rPr lang="en-US" dirty="0"/>
              <a:t>✓ Schedule preventive maintenance</a:t>
            </a:r>
          </a:p>
          <a:p>
            <a:r>
              <a:rPr lang="en-US" dirty="0"/>
              <a:t>✓ Generate analytical reports</a:t>
            </a:r>
          </a:p>
          <a:p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Expected Outcomes:</a:t>
            </a:r>
          </a:p>
          <a:p>
            <a:r>
              <a:rPr lang="en-US" dirty="0"/>
              <a:t>• 50% reduction in scheduling conflicts</a:t>
            </a:r>
          </a:p>
          <a:p>
            <a:r>
              <a:rPr lang="en-US" dirty="0"/>
              <a:t>• 30% increase in equipment utilization</a:t>
            </a:r>
          </a:p>
          <a:p>
            <a:r>
              <a:rPr lang="en-US" dirty="0"/>
              <a:t>• Automated revenue tracking</a:t>
            </a:r>
          </a:p>
          <a:p>
            <a:r>
              <a:rPr lang="en-US" dirty="0"/>
              <a:t>• Predictive maintenance alerts</a:t>
            </a:r>
          </a:p>
          <a:p>
            <a:r>
              <a:rPr lang="en-US" dirty="0"/>
              <a:t>• Enhanced customer satisfaction</a:t>
            </a:r>
          </a:p>
        </p:txBody>
      </p:sp>
    </p:spTree>
    <p:extLst>
      <p:ext uri="{BB962C8B-B14F-4D97-AF65-F5344CB8AC3E}">
        <p14:creationId xmlns:p14="http://schemas.microsoft.com/office/powerpoint/2010/main" val="460173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14DF8-D3E0-4098-A46F-62BE3ACEC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 BI Potential</a:t>
            </a:r>
            <a:br>
              <a:rPr lang="en-US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4AFA2-168A-4994-900E-B3FAC04AC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669" y="1253331"/>
            <a:ext cx="10515600" cy="4351338"/>
          </a:xfrm>
        </p:spPr>
        <p:txBody>
          <a:bodyPr>
            <a:noAutofit/>
          </a:bodyPr>
          <a:lstStyle/>
          <a:p>
            <a:r>
              <a:rPr lang="en-US" sz="1100" dirty="0"/>
              <a:t>BUSINESS INTELLIGENCE OPPORTUNITIES</a:t>
            </a:r>
          </a:p>
          <a:p>
            <a:endParaRPr lang="en-US" sz="1100" dirty="0"/>
          </a:p>
          <a:p>
            <a:r>
              <a:rPr lang="en-US" sz="1100" dirty="0"/>
              <a:t>Analytics for Decision-Making:</a:t>
            </a:r>
          </a:p>
          <a:p>
            <a:endParaRPr lang="en-US" sz="1100" dirty="0"/>
          </a:p>
          <a:p>
            <a:r>
              <a:rPr lang="en-US" sz="1100" dirty="0"/>
              <a:t>1. Equipment Utilization Analytics</a:t>
            </a:r>
          </a:p>
          <a:p>
            <a:r>
              <a:rPr lang="en-US" sz="1100" dirty="0"/>
              <a:t>   - Peak demand periods identification</a:t>
            </a:r>
          </a:p>
          <a:p>
            <a:r>
              <a:rPr lang="en-US" sz="1100" dirty="0"/>
              <a:t>   - Underutilized equipment optimization</a:t>
            </a:r>
          </a:p>
          <a:p>
            <a:endParaRPr lang="en-US" sz="1100" dirty="0"/>
          </a:p>
          <a:p>
            <a:r>
              <a:rPr lang="en-US" sz="1100" dirty="0"/>
              <a:t>2. Revenue Forecasting</a:t>
            </a:r>
          </a:p>
          <a:p>
            <a:r>
              <a:rPr lang="en-US" sz="1100" dirty="0"/>
              <a:t>   - Seasonal revenue predictions</a:t>
            </a:r>
          </a:p>
          <a:p>
            <a:r>
              <a:rPr lang="en-US" sz="1100" dirty="0"/>
              <a:t>   - Pricing optimization models</a:t>
            </a:r>
          </a:p>
          <a:p>
            <a:endParaRPr lang="en-US" sz="1100" dirty="0"/>
          </a:p>
          <a:p>
            <a:r>
              <a:rPr lang="en-US" sz="1100" dirty="0"/>
              <a:t>3. Maintenance Cost Analysis</a:t>
            </a:r>
          </a:p>
          <a:p>
            <a:r>
              <a:rPr lang="en-US" sz="1100" dirty="0"/>
              <a:t>   - Preventive vs reactive cost comparison</a:t>
            </a:r>
          </a:p>
          <a:p>
            <a:r>
              <a:rPr lang="en-US" sz="1100" dirty="0"/>
              <a:t>   - Downtime impact on revenue</a:t>
            </a:r>
          </a:p>
          <a:p>
            <a:endParaRPr lang="en-US" sz="1100" dirty="0"/>
          </a:p>
          <a:p>
            <a:r>
              <a:rPr lang="en-US" sz="1100" dirty="0"/>
              <a:t>4. Customer Behavior Insights</a:t>
            </a:r>
          </a:p>
          <a:p>
            <a:r>
              <a:rPr lang="en-US" sz="1100" dirty="0"/>
              <a:t>   - Rental pattern analysis</a:t>
            </a:r>
          </a:p>
          <a:p>
            <a:r>
              <a:rPr lang="en-US" sz="1100" dirty="0"/>
              <a:t>   - Customer retention strategies</a:t>
            </a:r>
          </a:p>
          <a:p>
            <a:endParaRPr lang="en-US" sz="1100" dirty="0"/>
          </a:p>
          <a:p>
            <a:r>
              <a:rPr lang="en-US" sz="1100" dirty="0"/>
              <a:t>5. Operational Efficiency</a:t>
            </a:r>
          </a:p>
          <a:p>
            <a:r>
              <a:rPr lang="en-US" sz="1100" dirty="0"/>
              <a:t>   - Depot performance metrics</a:t>
            </a:r>
          </a:p>
          <a:p>
            <a:r>
              <a:rPr lang="en-US" sz="1100" dirty="0"/>
              <a:t>   - Resource allocation optimization</a:t>
            </a:r>
          </a:p>
        </p:txBody>
      </p:sp>
    </p:spTree>
    <p:extLst>
      <p:ext uri="{BB962C8B-B14F-4D97-AF65-F5344CB8AC3E}">
        <p14:creationId xmlns:p14="http://schemas.microsoft.com/office/powerpoint/2010/main" val="2098767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73C50-F948-42DC-927D-2634855E0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Power </a:t>
            </a:r>
            <a:r>
              <a:rPr lang="en-US" sz="3600" dirty="0" err="1"/>
              <a:t>bI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251037-F659-420E-9A50-5079C68660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8420" y="2016125"/>
            <a:ext cx="6849484" cy="3449638"/>
          </a:xfrm>
        </p:spPr>
      </p:pic>
    </p:spTree>
    <p:extLst>
      <p:ext uri="{BB962C8B-B14F-4D97-AF65-F5344CB8AC3E}">
        <p14:creationId xmlns:p14="http://schemas.microsoft.com/office/powerpoint/2010/main" val="96693778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233</TotalTime>
  <Words>351</Words>
  <Application>Microsoft Office PowerPoint</Application>
  <PresentationFormat>Widescreen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Gill Sans MT</vt:lpstr>
      <vt:lpstr>quote-cjk-patch</vt:lpstr>
      <vt:lpstr>Wingdings</vt:lpstr>
      <vt:lpstr>Gallery</vt:lpstr>
      <vt:lpstr>Farm Equipment Rental Management System - Phase I PowerPoint Presentation </vt:lpstr>
      <vt:lpstr>PowerPoint Presentation</vt:lpstr>
      <vt:lpstr>Problem Definition </vt:lpstr>
      <vt:lpstr> Context &amp; Users </vt:lpstr>
      <vt:lpstr>System architecture </vt:lpstr>
      <vt:lpstr> Project Goals </vt:lpstr>
      <vt:lpstr> BI Potential </vt:lpstr>
      <vt:lpstr>Power bI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 Equipment Rental Management System - Phase I PowerPoint Presentation</dc:title>
  <dc:creator>tetakevin24@gmail.com</dc:creator>
  <cp:lastModifiedBy>tetakevin24@gmail.com</cp:lastModifiedBy>
  <cp:revision>5</cp:revision>
  <dcterms:created xsi:type="dcterms:W3CDTF">2025-12-01T15:38:35Z</dcterms:created>
  <dcterms:modified xsi:type="dcterms:W3CDTF">2025-12-21T12:04:42Z</dcterms:modified>
</cp:coreProperties>
</file>