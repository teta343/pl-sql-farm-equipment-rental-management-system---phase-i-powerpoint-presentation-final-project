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60"/>
  </p:normalViewPr>
  <p:slideViewPr>
    <p:cSldViewPr snapToGrid="0">
      <p:cViewPr varScale="1">
        <p:scale>
          <a:sx n="72" d="100"/>
          <a:sy n="72" d="100"/>
        </p:scale>
        <p:origin x="456" y="5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99C969-BDA1-4333-952F-114BD5EB8E8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3ECFA19-3A26-4086-8225-00CA3C8AEDE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D413E3C-51A5-42CB-954E-07BCA89E9D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EC4924-5A8D-48FD-ACE9-ABD0D4AC03A0}" type="datetimeFigureOut">
              <a:rPr lang="en-US" smtClean="0"/>
              <a:t>12/1/2025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6B81F53-E710-413D-AE34-54A833E019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6EB30F2-8558-4C15-915B-4D84FFF211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777E2A-DC13-4291-8EFB-C2EF6ED5332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1578329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D8855C-CC23-4A62-B089-C87EFC2EA5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E8C4200-D115-48A3-95B8-DB4FD793444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41EE16D-196C-49EA-AD4A-460BDE298F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EC4924-5A8D-48FD-ACE9-ABD0D4AC03A0}" type="datetimeFigureOut">
              <a:rPr lang="en-US" smtClean="0"/>
              <a:t>12/1/2025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33C2C66-750F-479E-8FF9-293C5B29B97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70AD362-5F61-470C-AC9D-915B3796C8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777E2A-DC13-4291-8EFB-C2EF6ED5332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6216890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2E69C0-CC9F-45E7-8349-20217E1E81F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3E5C978-2F88-4DAE-A41D-0252DC54EFE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EB5C6F7-A1A4-4535-9742-CE15841AF1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EC4924-5A8D-48FD-ACE9-ABD0D4AC03A0}" type="datetimeFigureOut">
              <a:rPr lang="en-US" smtClean="0"/>
              <a:t>12/1/2025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C4EEAFB-E869-40D9-9596-74E351F304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F28547F-AF0E-4BAA-BCEF-655F36BDCA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777E2A-DC13-4291-8EFB-C2EF6ED5332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8835765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64268E-D29D-49AA-99FE-C23A262537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A951BA2-5303-4831-80AF-B9FE2528163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1D4CBB7-212E-4126-8553-9A8AD0753C0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C197A76-7CFF-413B-9FE4-4B79F35128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EC4924-5A8D-48FD-ACE9-ABD0D4AC03A0}" type="datetimeFigureOut">
              <a:rPr lang="en-US" smtClean="0"/>
              <a:t>12/1/2025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5D3B102-20D4-4053-9B24-33F4800F84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8A0F853-DAC3-4B3D-9F5D-EE56089B93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777E2A-DC13-4291-8EFB-C2EF6ED5332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4033051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5CC455-AFCD-4532-9B34-61E232CB02F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731C957-3402-49A5-A3B8-6E9368D2156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A5E9B6D-7C0B-4D35-9007-DFAC4E8DCF2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C3CD3D9-2994-4495-9FF4-A0DA8667A1F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6723E2C-F926-4ED0-98D8-B4DA07C9817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2AD1430-E90E-41B7-8D4D-684C44FAE0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EC4924-5A8D-48FD-ACE9-ABD0D4AC03A0}" type="datetimeFigureOut">
              <a:rPr lang="en-US" smtClean="0"/>
              <a:t>12/1/2025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E09C93E9-DF71-4CBA-A5F6-031B2F43951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47CBE06E-154C-440E-A52D-6764C169AA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777E2A-DC13-4291-8EFB-C2EF6ED5332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3891834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D00F93-C67C-44CD-9AF6-D5009C41EE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45D01B7-BD21-4705-8DE7-95D36C158F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EC4924-5A8D-48FD-ACE9-ABD0D4AC03A0}" type="datetimeFigureOut">
              <a:rPr lang="en-US" smtClean="0"/>
              <a:t>12/1/2025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0BADFA4-A241-41FB-8021-614B905E4B9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60CA2A5-D753-4689-87DE-E1FFAA1792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777E2A-DC13-4291-8EFB-C2EF6ED5332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5136086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FC73EC5-4DA3-4D36-9EE5-7C48F00180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EC4924-5A8D-48FD-ACE9-ABD0D4AC03A0}" type="datetimeFigureOut">
              <a:rPr lang="en-US" smtClean="0"/>
              <a:t>12/1/2025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9A84065-E880-43BD-8C2F-2941CC65D6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2FCF87E-A549-48FD-A128-2BC3CF1C31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777E2A-DC13-4291-8EFB-C2EF6ED5332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5333024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141439-93D8-4605-A4E3-9196CECE2A9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96EFBDE-C4E5-4A5C-B766-7FBDB4F8EB9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2ECCC7F-F64E-4FFE-9CA2-CEE35D4BD14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BA414C7-E1B3-4F31-902D-0FAB0BE7AA6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EC4924-5A8D-48FD-ACE9-ABD0D4AC03A0}" type="datetimeFigureOut">
              <a:rPr lang="en-US" smtClean="0"/>
              <a:t>12/1/2025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1D03C4E-990D-425C-9496-3759A3CCEC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DA4B1F1-E0F6-4786-801A-A739AF730F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777E2A-DC13-4291-8EFB-C2EF6ED5332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2592479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77E293-F0B6-4CC7-914B-A05F7F5C6E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AC4E407D-F660-46A6-99EB-11CACA6D962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6B26B72-9488-4F47-B751-017F1A547EC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4B17DB5-8D75-4CB6-8CA9-FF9A77FA41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EC4924-5A8D-48FD-ACE9-ABD0D4AC03A0}" type="datetimeFigureOut">
              <a:rPr lang="en-US" smtClean="0"/>
              <a:t>12/1/2025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EDA52EE-AFCF-47C5-BE16-134FD9432A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D785F99-0D79-466D-95ED-7DA16A514C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777E2A-DC13-4291-8EFB-C2EF6ED5332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7678249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9ED814-5BCF-4055-A05F-1B463C18BB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7A55DCE-0BB9-4610-83D1-CE2B5499F36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7538980-8FC9-4C4F-AFC2-51E9C149AD5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EC4924-5A8D-48FD-ACE9-ABD0D4AC03A0}" type="datetimeFigureOut">
              <a:rPr lang="en-US" smtClean="0"/>
              <a:t>12/1/2025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629EB24-9170-4739-A840-DFC04E6244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70CF160-041A-4D48-8C3F-1852261DA8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777E2A-DC13-4291-8EFB-C2EF6ED5332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1807758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49B2F0B2-00E4-4382-9AFC-FC78453CF7A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E50308B-1890-4C6B-BA5E-97512F14DB2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0318E6A-83D1-4460-938F-973D7F99566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EC4924-5A8D-48FD-ACE9-ABD0D4AC03A0}" type="datetimeFigureOut">
              <a:rPr lang="en-US" smtClean="0"/>
              <a:t>12/1/2025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A8F0985-E1FE-41CD-B0CD-5E85310EF7D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EF14ACC-412D-429A-9A52-99D8EE56CA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777E2A-DC13-4291-8EFB-C2EF6ED5332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4715265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0F02315A-59E6-46B0-9ADF-FD889D4A11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19729BB-C7D6-48D0-9B5F-F140DB05219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4EC8E68-FC40-4D74-83B0-DBEBEBE7E67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0EC4924-5A8D-48FD-ACE9-ABD0D4AC03A0}" type="datetimeFigureOut">
              <a:rPr lang="en-US" smtClean="0"/>
              <a:t>12/1/2025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8681C92-A07F-4694-83D1-039274986ED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5661A24-B2BA-4518-A10C-75F6061606C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A777E2A-DC13-4291-8EFB-C2EF6ED5332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8311261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221B8B-3641-498D-9AF0-4F20D185AE8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868362"/>
            <a:ext cx="9144000" cy="2387600"/>
          </a:xfrm>
        </p:spPr>
        <p:txBody>
          <a:bodyPr>
            <a:normAutofit/>
          </a:bodyPr>
          <a:lstStyle/>
          <a:p>
            <a:r>
              <a:rPr lang="en-US" sz="4000" b="1" dirty="0">
                <a:solidFill>
                  <a:srgbClr val="0F1115"/>
                </a:solidFill>
                <a:effectLst/>
                <a:latin typeface="quote-cjk-patch"/>
              </a:rPr>
              <a:t>Farm Equipment Rental Management System - Phase I PowerPoint Presentation</a:t>
            </a:r>
            <a:br>
              <a:rPr lang="en-US" sz="4000" b="1" dirty="0">
                <a:solidFill>
                  <a:srgbClr val="0F1115"/>
                </a:solidFill>
                <a:effectLst/>
                <a:latin typeface="quote-cjk-patch"/>
              </a:rPr>
            </a:br>
            <a:endParaRPr lang="en-US" sz="4000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FCB7741-0217-4989-815C-184E9440B9F5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9305652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4FBB18A-D92B-4E19-BC8A-38E8684F104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pPr marL="0" indent="0">
              <a:buNone/>
            </a:pPr>
            <a:r>
              <a:rPr lang="en-US" dirty="0"/>
              <a:t>FARM EQUIPMENT RENTAL MANAGEMENT SYSTEM</a:t>
            </a:r>
          </a:p>
          <a:p>
            <a:endParaRPr lang="en-US" dirty="0"/>
          </a:p>
          <a:p>
            <a:r>
              <a:rPr lang="en-US" dirty="0"/>
              <a:t>PL/SQL Oracle Database Capstone Project</a:t>
            </a:r>
          </a:p>
          <a:p>
            <a:r>
              <a:rPr lang="en-US" dirty="0"/>
              <a:t>INSY 8311 - Database Development with PL/SQL</a:t>
            </a:r>
          </a:p>
          <a:p>
            <a:endParaRPr lang="en-US" dirty="0"/>
          </a:p>
          <a:p>
            <a:r>
              <a:rPr lang="en-US" dirty="0"/>
              <a:t>Student: </a:t>
            </a:r>
            <a:r>
              <a:rPr lang="en-US" dirty="0" err="1"/>
              <a:t>Teta</a:t>
            </a:r>
            <a:r>
              <a:rPr lang="en-US" dirty="0"/>
              <a:t> </a:t>
            </a:r>
            <a:r>
              <a:rPr lang="en-US" dirty="0" err="1"/>
              <a:t>kevine</a:t>
            </a:r>
            <a:endParaRPr lang="en-US" dirty="0"/>
          </a:p>
          <a:p>
            <a:r>
              <a:rPr lang="en-US" dirty="0"/>
              <a:t>Student ID: 27973</a:t>
            </a:r>
          </a:p>
          <a:p>
            <a:r>
              <a:rPr lang="en-US" dirty="0"/>
              <a:t>Date: November 17, 2025</a:t>
            </a:r>
          </a:p>
          <a:p>
            <a:r>
              <a:rPr lang="en-US" dirty="0"/>
              <a:t>Adventist University of Central Africa (AUCA)</a:t>
            </a:r>
          </a:p>
          <a:p>
            <a:r>
              <a:rPr lang="en-US" dirty="0"/>
              <a:t>Lecturer: Eric </a:t>
            </a:r>
            <a:r>
              <a:rPr lang="en-US" dirty="0" err="1"/>
              <a:t>Maniraquha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4421651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4985AC-24AF-46F0-BFF4-61F0F8C564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>
                <a:solidFill>
                  <a:srgbClr val="0F1115"/>
                </a:solidFill>
                <a:effectLst/>
                <a:latin typeface="quote-cjk-patch"/>
              </a:rPr>
              <a:t>Problem Definition</a:t>
            </a:r>
            <a:br>
              <a:rPr lang="en-US" b="1" dirty="0">
                <a:solidFill>
                  <a:srgbClr val="0F1115"/>
                </a:solidFill>
                <a:effectLst/>
                <a:latin typeface="quote-cjk-patch"/>
              </a:rPr>
            </a:b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9A52E8B-3F6A-453D-974A-13B44CEFC2D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62500" lnSpcReduction="20000"/>
          </a:bodyPr>
          <a:lstStyle/>
          <a:p>
            <a:pPr marL="0" indent="0">
              <a:buNone/>
            </a:pPr>
            <a:r>
              <a:rPr lang="en-US" dirty="0"/>
              <a:t>PROBLEM STATEMENT</a:t>
            </a:r>
          </a:p>
          <a:p>
            <a:endParaRPr lang="en-US" dirty="0"/>
          </a:p>
          <a:p>
            <a:pPr>
              <a:buFont typeface="Wingdings" panose="05000000000000000000" pitchFamily="2" charset="2"/>
              <a:buChar char="Ø"/>
            </a:pPr>
            <a:r>
              <a:rPr lang="en-US" dirty="0"/>
              <a:t>Challenge:</a:t>
            </a:r>
          </a:p>
          <a:p>
            <a:pPr marL="0" indent="0">
              <a:buNone/>
            </a:pPr>
            <a:r>
              <a:rPr lang="en-US" dirty="0"/>
              <a:t>• Small-scale farmers cannot afford expensive farm equipment</a:t>
            </a:r>
          </a:p>
          <a:p>
            <a:pPr marL="0" indent="0">
              <a:buNone/>
            </a:pPr>
            <a:r>
              <a:rPr lang="en-US" dirty="0"/>
              <a:t>• Equipment underutilization for owners/dealers</a:t>
            </a:r>
          </a:p>
          <a:p>
            <a:pPr marL="0" indent="0">
              <a:buNone/>
            </a:pPr>
            <a:r>
              <a:rPr lang="en-US" dirty="0"/>
              <a:t>• Manual rental processes cause scheduling conflicts</a:t>
            </a:r>
          </a:p>
          <a:p>
            <a:pPr marL="0" indent="0">
              <a:buNone/>
            </a:pPr>
            <a:r>
              <a:rPr lang="en-US" dirty="0"/>
              <a:t>• No centralized system for maintenance tracking</a:t>
            </a:r>
          </a:p>
          <a:p>
            <a:endParaRPr lang="en-US" dirty="0"/>
          </a:p>
          <a:p>
            <a:pPr>
              <a:buFont typeface="Wingdings" panose="05000000000000000000" pitchFamily="2" charset="2"/>
              <a:buChar char="Ø"/>
            </a:pPr>
            <a:r>
              <a:rPr lang="en-US" dirty="0"/>
              <a:t>Impact:</a:t>
            </a:r>
          </a:p>
          <a:p>
            <a:pPr marL="0" indent="0">
              <a:buNone/>
            </a:pPr>
            <a:r>
              <a:rPr lang="en-US" dirty="0"/>
              <a:t>• Reduced agricultural productivity</a:t>
            </a:r>
          </a:p>
          <a:p>
            <a:pPr marL="0" indent="0">
              <a:buNone/>
            </a:pPr>
            <a:r>
              <a:rPr lang="en-US" dirty="0"/>
              <a:t>• Higher operational costs</a:t>
            </a:r>
          </a:p>
          <a:p>
            <a:pPr marL="0" indent="0">
              <a:buNone/>
            </a:pPr>
            <a:r>
              <a:rPr lang="en-US" dirty="0"/>
              <a:t>• Equipment downtime inefficiencies</a:t>
            </a:r>
          </a:p>
          <a:p>
            <a:pPr marL="0" indent="0">
              <a:buNone/>
            </a:pPr>
            <a:r>
              <a:rPr lang="en-US" dirty="0"/>
              <a:t>• Lost revenue opportunities</a:t>
            </a:r>
          </a:p>
        </p:txBody>
      </p:sp>
    </p:spTree>
    <p:extLst>
      <p:ext uri="{BB962C8B-B14F-4D97-AF65-F5344CB8AC3E}">
        <p14:creationId xmlns:p14="http://schemas.microsoft.com/office/powerpoint/2010/main" val="22690957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8E85DA-FAD6-4A7E-8EE4-9F7A7CC810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>
                <a:solidFill>
                  <a:srgbClr val="0F1115"/>
                </a:solidFill>
                <a:effectLst/>
                <a:latin typeface="quote-cjk-patch"/>
              </a:rPr>
              <a:t> Context &amp; Users</a:t>
            </a:r>
            <a:br>
              <a:rPr lang="en-US" b="1" dirty="0">
                <a:solidFill>
                  <a:srgbClr val="0F1115"/>
                </a:solidFill>
                <a:effectLst/>
                <a:latin typeface="quote-cjk-patch"/>
              </a:rPr>
            </a:b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D92FFE0-F566-4F4D-A0A2-6FC4D32F496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2891" y="1754604"/>
            <a:ext cx="10515600" cy="4351338"/>
          </a:xfrm>
        </p:spPr>
        <p:txBody>
          <a:bodyPr>
            <a:normAutofit fontScale="55000" lnSpcReduction="20000"/>
          </a:bodyPr>
          <a:lstStyle/>
          <a:p>
            <a:pPr lvl="2">
              <a:buFont typeface="Wingdings" panose="05000000000000000000" pitchFamily="2" charset="2"/>
              <a:buChar char="Ø"/>
            </a:pPr>
            <a:r>
              <a:rPr lang="en-US" sz="3300" dirty="0"/>
              <a:t>SYSTEM CONTEXT &amp; TARGET USERS</a:t>
            </a:r>
          </a:p>
          <a:p>
            <a:endParaRPr lang="en-US" dirty="0"/>
          </a:p>
          <a:p>
            <a:pPr>
              <a:buFont typeface="Wingdings" panose="05000000000000000000" pitchFamily="2" charset="2"/>
              <a:buChar char="v"/>
            </a:pPr>
            <a:r>
              <a:rPr lang="en-US" dirty="0"/>
              <a:t>Where/How Used:</a:t>
            </a:r>
          </a:p>
          <a:p>
            <a:pPr marL="0" indent="0">
              <a:buNone/>
            </a:pPr>
            <a:r>
              <a:rPr lang="en-US" dirty="0"/>
              <a:t>• Agricultural cooperatives in Rwanda</a:t>
            </a:r>
          </a:p>
          <a:p>
            <a:pPr marL="0" indent="0">
              <a:buNone/>
            </a:pPr>
            <a:r>
              <a:rPr lang="en-US" dirty="0"/>
              <a:t>• Equipment rental depots in rural areas</a:t>
            </a:r>
          </a:p>
          <a:p>
            <a:pPr marL="0" indent="0">
              <a:buNone/>
            </a:pPr>
            <a:r>
              <a:rPr lang="en-US" dirty="0"/>
              <a:t>• Online/web-based access for reservations</a:t>
            </a:r>
          </a:p>
          <a:p>
            <a:pPr marL="0" indent="0">
              <a:buNone/>
            </a:pPr>
            <a:r>
              <a:rPr lang="en-US" dirty="0"/>
              <a:t>• Mobile-friendly for remote farmers</a:t>
            </a:r>
          </a:p>
          <a:p>
            <a:endParaRPr lang="en-US" dirty="0"/>
          </a:p>
          <a:p>
            <a:pPr>
              <a:buFont typeface="Wingdings" panose="05000000000000000000" pitchFamily="2" charset="2"/>
              <a:buChar char="v"/>
            </a:pPr>
            <a:r>
              <a:rPr lang="en-US" dirty="0"/>
              <a:t>Primary Users:</a:t>
            </a:r>
          </a:p>
          <a:p>
            <a:pPr marL="0" indent="0">
              <a:buNone/>
            </a:pPr>
            <a:r>
              <a:rPr lang="en-US" dirty="0"/>
              <a:t>1. Farmers/Renters - Browse &amp; reserve equipment</a:t>
            </a:r>
          </a:p>
          <a:p>
            <a:pPr marL="0" indent="0">
              <a:buNone/>
            </a:pPr>
            <a:r>
              <a:rPr lang="en-US" dirty="0"/>
              <a:t>2. Equipment Owners - Manage inventory &amp; revenue</a:t>
            </a:r>
          </a:p>
          <a:p>
            <a:pPr marL="0" indent="0">
              <a:buNone/>
            </a:pPr>
            <a:r>
              <a:rPr lang="en-US" dirty="0"/>
              <a:t>3. Depot Managers - Oversee operations</a:t>
            </a:r>
          </a:p>
          <a:p>
            <a:pPr marL="0" indent="0">
              <a:buNone/>
            </a:pPr>
            <a:r>
              <a:rPr lang="en-US" dirty="0"/>
              <a:t>4. Maintenance Staff - Schedule servicing</a:t>
            </a:r>
          </a:p>
          <a:p>
            <a:pPr marL="0" indent="0">
              <a:buNone/>
            </a:pPr>
            <a:r>
              <a:rPr lang="en-US" dirty="0"/>
              <a:t>5. Administrators - System management</a:t>
            </a:r>
          </a:p>
        </p:txBody>
      </p:sp>
    </p:spTree>
    <p:extLst>
      <p:ext uri="{BB962C8B-B14F-4D97-AF65-F5344CB8AC3E}">
        <p14:creationId xmlns:p14="http://schemas.microsoft.com/office/powerpoint/2010/main" val="215710822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04F7FE-A469-42DC-9CD1-5AA0EA3D16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>
                <a:solidFill>
                  <a:srgbClr val="0F1115"/>
                </a:solidFill>
                <a:effectLst/>
                <a:latin typeface="quote-cjk-patch"/>
              </a:rPr>
              <a:t> Project Goals</a:t>
            </a:r>
            <a:br>
              <a:rPr lang="en-US" b="1" dirty="0">
                <a:solidFill>
                  <a:srgbClr val="0F1115"/>
                </a:solidFill>
                <a:effectLst/>
                <a:latin typeface="quote-cjk-patch"/>
              </a:rPr>
            </a:b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BD04AE1-1A48-44C6-B3EC-14B6F62A949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55000" lnSpcReduction="20000"/>
          </a:bodyPr>
          <a:lstStyle/>
          <a:p>
            <a:pPr lvl="3">
              <a:buFont typeface="Wingdings" panose="05000000000000000000" pitchFamily="2" charset="2"/>
              <a:buChar char="Ø"/>
            </a:pPr>
            <a:r>
              <a:rPr lang="en-US" sz="3600" dirty="0"/>
              <a:t>PROJECT OBJECTIVES &amp; OUTCOMES</a:t>
            </a:r>
          </a:p>
          <a:p>
            <a:endParaRPr lang="en-US" dirty="0"/>
          </a:p>
          <a:p>
            <a:pPr>
              <a:buFont typeface="Wingdings" panose="05000000000000000000" pitchFamily="2" charset="2"/>
              <a:buChar char="v"/>
            </a:pPr>
            <a:r>
              <a:rPr lang="en-US" dirty="0"/>
              <a:t>Primary Goals:</a:t>
            </a:r>
          </a:p>
          <a:p>
            <a:r>
              <a:rPr lang="en-US" dirty="0"/>
              <a:t>✓ Streamline rental booking process</a:t>
            </a:r>
          </a:p>
          <a:p>
            <a:r>
              <a:rPr lang="en-US" dirty="0"/>
              <a:t>✓ Track equipment availability in real-time</a:t>
            </a:r>
          </a:p>
          <a:p>
            <a:r>
              <a:rPr lang="en-US" dirty="0"/>
              <a:t>✓ Automate payment and billing</a:t>
            </a:r>
          </a:p>
          <a:p>
            <a:r>
              <a:rPr lang="en-US" dirty="0"/>
              <a:t>✓ Schedule preventive maintenance</a:t>
            </a:r>
          </a:p>
          <a:p>
            <a:r>
              <a:rPr lang="en-US" dirty="0"/>
              <a:t>✓ Generate analytical reports</a:t>
            </a:r>
          </a:p>
          <a:p>
            <a:endParaRPr lang="en-US" dirty="0"/>
          </a:p>
          <a:p>
            <a:pPr>
              <a:buFont typeface="Wingdings" panose="05000000000000000000" pitchFamily="2" charset="2"/>
              <a:buChar char="v"/>
            </a:pPr>
            <a:r>
              <a:rPr lang="en-US" dirty="0"/>
              <a:t>Expected Outcomes:</a:t>
            </a:r>
          </a:p>
          <a:p>
            <a:r>
              <a:rPr lang="en-US" dirty="0"/>
              <a:t>• 50% reduction in scheduling conflicts</a:t>
            </a:r>
          </a:p>
          <a:p>
            <a:r>
              <a:rPr lang="en-US" dirty="0"/>
              <a:t>• 30% increase in equipment utilization</a:t>
            </a:r>
          </a:p>
          <a:p>
            <a:r>
              <a:rPr lang="en-US" dirty="0"/>
              <a:t>• Automated revenue tracking</a:t>
            </a:r>
          </a:p>
          <a:p>
            <a:r>
              <a:rPr lang="en-US" dirty="0"/>
              <a:t>• Predictive maintenance alerts</a:t>
            </a:r>
          </a:p>
          <a:p>
            <a:r>
              <a:rPr lang="en-US" dirty="0"/>
              <a:t>• Enhanced customer satisfaction</a:t>
            </a:r>
          </a:p>
        </p:txBody>
      </p:sp>
    </p:spTree>
    <p:extLst>
      <p:ext uri="{BB962C8B-B14F-4D97-AF65-F5344CB8AC3E}">
        <p14:creationId xmlns:p14="http://schemas.microsoft.com/office/powerpoint/2010/main" val="46017330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A14DF8-D3E0-4098-A46F-62BE3ACECA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>
                <a:solidFill>
                  <a:srgbClr val="0F1115"/>
                </a:solidFill>
                <a:effectLst/>
                <a:latin typeface="quote-cjk-patch"/>
              </a:rPr>
              <a:t> BI Potential</a:t>
            </a:r>
            <a:br>
              <a:rPr lang="en-US" b="1" dirty="0">
                <a:solidFill>
                  <a:srgbClr val="0F1115"/>
                </a:solidFill>
                <a:effectLst/>
                <a:latin typeface="quote-cjk-patch"/>
              </a:rPr>
            </a:b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044AFA2-168A-4994-900E-B3FAC04ACA3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31669" y="1253331"/>
            <a:ext cx="10515600" cy="4351338"/>
          </a:xfrm>
        </p:spPr>
        <p:txBody>
          <a:bodyPr>
            <a:noAutofit/>
          </a:bodyPr>
          <a:lstStyle/>
          <a:p>
            <a:r>
              <a:rPr lang="en-US" sz="1100" dirty="0"/>
              <a:t>BUSINESS INTELLIGENCE OPPORTUNITIES</a:t>
            </a:r>
          </a:p>
          <a:p>
            <a:endParaRPr lang="en-US" sz="1100" dirty="0"/>
          </a:p>
          <a:p>
            <a:r>
              <a:rPr lang="en-US" sz="1100" dirty="0"/>
              <a:t>Analytics for Decision-Making:</a:t>
            </a:r>
          </a:p>
          <a:p>
            <a:endParaRPr lang="en-US" sz="1100" dirty="0"/>
          </a:p>
          <a:p>
            <a:r>
              <a:rPr lang="en-US" sz="1100" dirty="0"/>
              <a:t>1. Equipment Utilization Analytics</a:t>
            </a:r>
          </a:p>
          <a:p>
            <a:r>
              <a:rPr lang="en-US" sz="1100" dirty="0"/>
              <a:t>   - Peak demand periods identification</a:t>
            </a:r>
          </a:p>
          <a:p>
            <a:r>
              <a:rPr lang="en-US" sz="1100" dirty="0"/>
              <a:t>   - Underutilized equipment optimization</a:t>
            </a:r>
          </a:p>
          <a:p>
            <a:endParaRPr lang="en-US" sz="1100" dirty="0"/>
          </a:p>
          <a:p>
            <a:r>
              <a:rPr lang="en-US" sz="1100" dirty="0"/>
              <a:t>2. Revenue Forecasting</a:t>
            </a:r>
          </a:p>
          <a:p>
            <a:r>
              <a:rPr lang="en-US" sz="1100" dirty="0"/>
              <a:t>   - Seasonal revenue predictions</a:t>
            </a:r>
          </a:p>
          <a:p>
            <a:r>
              <a:rPr lang="en-US" sz="1100" dirty="0"/>
              <a:t>   - Pricing optimization models</a:t>
            </a:r>
          </a:p>
          <a:p>
            <a:endParaRPr lang="en-US" sz="1100" dirty="0"/>
          </a:p>
          <a:p>
            <a:r>
              <a:rPr lang="en-US" sz="1100" dirty="0"/>
              <a:t>3. Maintenance Cost Analysis</a:t>
            </a:r>
          </a:p>
          <a:p>
            <a:r>
              <a:rPr lang="en-US" sz="1100" dirty="0"/>
              <a:t>   - Preventive vs reactive cost comparison</a:t>
            </a:r>
          </a:p>
          <a:p>
            <a:r>
              <a:rPr lang="en-US" sz="1100" dirty="0"/>
              <a:t>   - Downtime impact on revenue</a:t>
            </a:r>
          </a:p>
          <a:p>
            <a:endParaRPr lang="en-US" sz="1100" dirty="0"/>
          </a:p>
          <a:p>
            <a:r>
              <a:rPr lang="en-US" sz="1100" dirty="0"/>
              <a:t>4. Customer Behavior Insights</a:t>
            </a:r>
          </a:p>
          <a:p>
            <a:r>
              <a:rPr lang="en-US" sz="1100" dirty="0"/>
              <a:t>   - Rental pattern analysis</a:t>
            </a:r>
          </a:p>
          <a:p>
            <a:r>
              <a:rPr lang="en-US" sz="1100" dirty="0"/>
              <a:t>   - Customer retention strategies</a:t>
            </a:r>
          </a:p>
          <a:p>
            <a:endParaRPr lang="en-US" sz="1100" dirty="0"/>
          </a:p>
          <a:p>
            <a:r>
              <a:rPr lang="en-US" sz="1100" dirty="0"/>
              <a:t>5. Operational Efficiency</a:t>
            </a:r>
          </a:p>
          <a:p>
            <a:r>
              <a:rPr lang="en-US" sz="1100" dirty="0"/>
              <a:t>   - Depot performance metrics</a:t>
            </a:r>
          </a:p>
          <a:p>
            <a:r>
              <a:rPr lang="en-US" sz="1100" dirty="0"/>
              <a:t>   - Resource allocation optimization</a:t>
            </a:r>
          </a:p>
        </p:txBody>
      </p:sp>
    </p:spTree>
    <p:extLst>
      <p:ext uri="{BB962C8B-B14F-4D97-AF65-F5344CB8AC3E}">
        <p14:creationId xmlns:p14="http://schemas.microsoft.com/office/powerpoint/2010/main" val="209876778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473C50-F948-42DC-927D-2634855E0A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D0D1691-4CDE-4702-B473-154851A8EC1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693778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230</TotalTime>
  <Words>345</Words>
  <Application>Microsoft Office PowerPoint</Application>
  <PresentationFormat>Widescreen</PresentationFormat>
  <Paragraphs>80</Paragraphs>
  <Slides>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3" baseType="lpstr">
      <vt:lpstr>Arial</vt:lpstr>
      <vt:lpstr>Calibri</vt:lpstr>
      <vt:lpstr>Calibri Light</vt:lpstr>
      <vt:lpstr>quote-cjk-patch</vt:lpstr>
      <vt:lpstr>Wingdings</vt:lpstr>
      <vt:lpstr>Office Theme</vt:lpstr>
      <vt:lpstr>Farm Equipment Rental Management System - Phase I PowerPoint Presentation </vt:lpstr>
      <vt:lpstr>PowerPoint Presentation</vt:lpstr>
      <vt:lpstr>Problem Definition </vt:lpstr>
      <vt:lpstr> Context &amp; Users </vt:lpstr>
      <vt:lpstr> Project Goals </vt:lpstr>
      <vt:lpstr> BI Potential 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Farm Equipment Rental Management System - Phase I PowerPoint Presentation</dc:title>
  <dc:creator>tetakevin24@gmail.com</dc:creator>
  <cp:lastModifiedBy>tetakevin24@gmail.com</cp:lastModifiedBy>
  <cp:revision>4</cp:revision>
  <dcterms:created xsi:type="dcterms:W3CDTF">2025-12-01T15:38:35Z</dcterms:created>
  <dcterms:modified xsi:type="dcterms:W3CDTF">2025-12-01T19:28:41Z</dcterms:modified>
</cp:coreProperties>
</file>